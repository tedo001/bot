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"/>
  </p:notesMasterIdLst>
  <p:sldIdLst>
    <p:sldId id="298" r:id="rId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7F5E"/>
    <a:srgbClr val="F7F9F1"/>
    <a:srgbClr val="F0F5FA"/>
    <a:srgbClr val="F9FBFD"/>
    <a:srgbClr val="F8FAF4"/>
    <a:srgbClr val="F2F2F2"/>
    <a:srgbClr val="E8FDFE"/>
    <a:srgbClr val="9BBB59"/>
    <a:srgbClr val="39B0D4"/>
    <a:srgbClr val="7272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43"/>
      </p:cViewPr>
      <p:guideLst>
        <p:guide orient="horz" pos="2144"/>
        <p:guide pos="380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09-Oct-26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09-Oct-26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09-Oct-26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09-Oct-26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vla_rfdetr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vla_rtdetr.png"/><Relationship Id="rId17" Type="http://schemas.openxmlformats.org/officeDocument/2006/relationships/image" Target="../media/vla_proto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vla_proto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vla_pydantic.png"/><Relationship Id="rId11" Type="http://schemas.openxmlformats.org/officeDocument/2006/relationships/image" Target="../media/vla_mujoco.png"/><Relationship Id="rId5" Type="http://schemas.openxmlformats.org/officeDocument/2006/relationships/image" Target="../media/vla_opencv.png"/><Relationship Id="rId15" Type="http://schemas.openxmlformats.org/officeDocument/2006/relationships/image" Target="../media/vla_proto1.png"/><Relationship Id="rId10" Type="http://schemas.openxmlformats.org/officeDocument/2006/relationships/image" Target="../media/vla_paddleocr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vla_pybulle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C47BCD5D-7FD2-881C-7E7F-13F4C71D9075}"/>
              </a:ext>
            </a:extLst>
          </p:cNvPr>
          <p:cNvSpPr/>
          <p:nvPr/>
        </p:nvSpPr>
        <p:spPr>
          <a:xfrm>
            <a:off x="84171" y="903349"/>
            <a:ext cx="6875430" cy="453245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Rectangle 193"/>
          <p:cNvSpPr/>
          <p:nvPr/>
        </p:nvSpPr>
        <p:spPr>
          <a:xfrm>
            <a:off x="2916687" y="5509041"/>
            <a:ext cx="1382067" cy="276999"/>
          </a:xfrm>
          <a:prstGeom prst="rect">
            <a:avLst/>
          </a:prstGeom>
          <a:solidFill>
            <a:srgbClr val="F3F7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Rectangle: Rounded Corners 186"/>
          <p:cNvSpPr/>
          <p:nvPr/>
        </p:nvSpPr>
        <p:spPr>
          <a:xfrm>
            <a:off x="1276093" y="5766385"/>
            <a:ext cx="4542778" cy="831095"/>
          </a:xfrm>
          <a:prstGeom prst="roundRect">
            <a:avLst>
              <a:gd name="adj" fmla="val 1220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-10160" y="6652896"/>
            <a:ext cx="12202160" cy="22836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/>
          <p:cNvSpPr/>
          <p:nvPr/>
        </p:nvSpPr>
        <p:spPr>
          <a:xfrm>
            <a:off x="235526" y="1053363"/>
            <a:ext cx="1401635" cy="902738"/>
          </a:xfrm>
          <a:prstGeom prst="roundRect">
            <a:avLst>
              <a:gd name="adj" fmla="val 12208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endParaRPr lang="en-US" dirty="0"/>
          </a:p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endParaRPr lang="en-US" dirty="0"/>
          </a:p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dirty="0"/>
              <a:t>TASK INPUT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dirty="0"/>
              <a:t>(Plain-English task,</a:t>
            </a:r>
            <a:br>
              <a:rPr lang="en-US" dirty="0"/>
            </a:br>
            <a:r>
              <a:rPr lang="en-US" dirty="0"/>
              <a:t>Pydantic-validated)</a:t>
            </a:r>
          </a:p>
          <a:p>
            <a:pPr algn="ctr"/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1941868" y="1086567"/>
            <a:ext cx="1347102" cy="853137"/>
          </a:xfrm>
          <a:prstGeom prst="roundRect">
            <a:avLst>
              <a:gd name="adj" fmla="val 12208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dirty="0"/>
              <a:t>SIMULATOR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dirty="0"/>
              <a:t>(Yaskawa GP7,</a:t>
            </a:r>
            <a:br>
              <a:rPr lang="en-US" dirty="0"/>
            </a:br>
            <a:r>
              <a:rPr lang="en-US" dirty="0"/>
              <a:t>MuJoCo / PyBullet)</a:t>
            </a:r>
          </a:p>
          <a:p>
            <a:pPr algn="ctr"/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5207112" y="1038087"/>
            <a:ext cx="1621087" cy="868478"/>
          </a:xfrm>
          <a:prstGeom prst="roundRect">
            <a:avLst>
              <a:gd name="adj" fmla="val 8156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3549487" y="1047939"/>
            <a:ext cx="1362532" cy="826604"/>
          </a:xfrm>
          <a:prstGeom prst="roundRect">
            <a:avLst>
              <a:gd name="adj" fmla="val 9978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sz="1200" dirty="0"/>
              <a:t>PERCEPTION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sz="900" dirty="0"/>
              <a:t>(RT-DETR · RF-DETR</a:t>
            </a:r>
            <a:br>
              <a:rPr lang="en-US" sz="900" dirty="0"/>
            </a:br>
            <a:r>
              <a:rPr lang="en-US" sz="900" dirty="0"/>
              <a:t>· PaddleOCR labels)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>
            <a:off x="1637161" y="1482096"/>
            <a:ext cx="3192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/>
          <p:cNvSpPr/>
          <p:nvPr/>
        </p:nvSpPr>
        <p:spPr>
          <a:xfrm>
            <a:off x="1927682" y="2175836"/>
            <a:ext cx="1470609" cy="772958"/>
          </a:xfrm>
          <a:prstGeom prst="roundRect">
            <a:avLst>
              <a:gd name="adj" fmla="val 8156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E24"/>
                </a:solidFill>
                <a:latin typeface="Aptos Display"/>
              </a:defRPr>
            </a:pPr>
            <a:r>
              <a:rPr lang="en-US" sz="1200" dirty="0"/>
              <a:t>ACTION CHUNK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sz="1000" dirty="0"/>
              <a:t>(8 moves + P(done))</a:t>
            </a:r>
          </a:p>
        </p:txBody>
      </p:sp>
      <p:sp>
        <p:nvSpPr>
          <p:cNvPr id="54" name="Rectangle: Rounded Corners 53"/>
          <p:cNvSpPr/>
          <p:nvPr/>
        </p:nvSpPr>
        <p:spPr>
          <a:xfrm>
            <a:off x="195169" y="4573318"/>
            <a:ext cx="1803624" cy="722042"/>
          </a:xfrm>
          <a:prstGeom prst="roundRect">
            <a:avLst>
              <a:gd name="adj" fmla="val 10697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dirty="0"/>
              <a:t>EVALUATION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dirty="0"/>
              <a:t>(96.7% GP7 success,</a:t>
            </a:r>
            <a:br>
              <a:rPr lang="en-US" dirty="0"/>
            </a:br>
            <a:r>
              <a:rPr lang="en-US" dirty="0"/>
              <a:t>100% refusal)</a:t>
            </a:r>
          </a:p>
          <a:p>
            <a:pPr algn="ctr"/>
            <a:endParaRPr lang="en-US" sz="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Rectangle: Rounded Corners 133"/>
          <p:cNvSpPr/>
          <p:nvPr/>
        </p:nvSpPr>
        <p:spPr>
          <a:xfrm>
            <a:off x="223951" y="2126435"/>
            <a:ext cx="1395715" cy="833863"/>
          </a:xfrm>
          <a:prstGeom prst="roundRect">
            <a:avLst>
              <a:gd name="adj" fmla="val 10697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E24"/>
                </a:solidFill>
                <a:latin typeface="Aptos Display"/>
              </a:defRPr>
            </a:pPr>
            <a:r>
              <a:rPr lang="en-US" sz="1200" dirty="0"/>
              <a:t>DONE CHECK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sz="1000" dirty="0"/>
              <a:t>(2× done → stop,</a:t>
            </a:r>
            <a:br>
              <a:rPr lang="en-US" sz="1000" dirty="0"/>
            </a:br>
            <a:r>
              <a:rPr lang="en-US" sz="1000" dirty="0"/>
              <a:t>unknown → refuse)</a:t>
            </a:r>
          </a:p>
        </p:txBody>
      </p:sp>
      <p:cxnSp>
        <p:nvCxnSpPr>
          <p:cNvPr id="138" name="Straight Arrow Connector 137"/>
          <p:cNvCxnSpPr>
            <a:cxnSpLocks/>
          </p:cNvCxnSpPr>
          <p:nvPr/>
        </p:nvCxnSpPr>
        <p:spPr>
          <a:xfrm>
            <a:off x="5975224" y="1956101"/>
            <a:ext cx="0" cy="219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: Rounded Corners 138"/>
          <p:cNvSpPr/>
          <p:nvPr/>
        </p:nvSpPr>
        <p:spPr>
          <a:xfrm>
            <a:off x="193265" y="3306865"/>
            <a:ext cx="1989133" cy="796599"/>
          </a:xfrm>
          <a:prstGeom prst="roundRect">
            <a:avLst>
              <a:gd name="adj" fmla="val 10697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dirty="0"/>
              <a:t>LIVE DASHBOARD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dirty="0"/>
              <a:t>(Camera + SRC/DST overlays,</a:t>
            </a:r>
            <a:br>
              <a:rPr lang="en-US" dirty="0"/>
            </a:br>
            <a:r>
              <a:rPr lang="en-US" dirty="0"/>
              <a:t>telemetry · console)</a:t>
            </a:r>
          </a:p>
        </p:txBody>
      </p:sp>
      <p:sp>
        <p:nvSpPr>
          <p:cNvPr id="146" name="Rectangle: Rounded Corners 145"/>
          <p:cNvSpPr/>
          <p:nvPr/>
        </p:nvSpPr>
        <p:spPr>
          <a:xfrm>
            <a:off x="5146720" y="4631204"/>
            <a:ext cx="1654972" cy="573853"/>
          </a:xfrm>
          <a:prstGeom prst="roundRect">
            <a:avLst>
              <a:gd name="adj" fmla="val 10697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dirty="0"/>
              <a:t>EXPERT DEMOS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dirty="0"/>
              <a:t>(1000s of planner runs)</a:t>
            </a:r>
          </a:p>
        </p:txBody>
      </p:sp>
      <p:cxnSp>
        <p:nvCxnSpPr>
          <p:cNvPr id="149" name="Straight Arrow Connector 148"/>
          <p:cNvCxnSpPr>
            <a:cxnSpLocks/>
          </p:cNvCxnSpPr>
          <p:nvPr/>
        </p:nvCxnSpPr>
        <p:spPr>
          <a:xfrm flipH="1">
            <a:off x="5972301" y="2981501"/>
            <a:ext cx="1905" cy="34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092" y="5904858"/>
            <a:ext cx="218730" cy="22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187" y="5751725"/>
            <a:ext cx="697454" cy="447053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001" y="5794308"/>
            <a:ext cx="396478" cy="396478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084" y="5847614"/>
            <a:ext cx="446784" cy="241028"/>
          </a:xfrm>
          <a:prstGeom prst="rect">
            <a:avLst/>
          </a:prstGeom>
        </p:spPr>
      </p:pic>
      <p:pic>
        <p:nvPicPr>
          <p:cNvPr id="1032" name="Picture 8" descr="Pytest – Testm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358" y="5846259"/>
            <a:ext cx="722928" cy="24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umPy - Why Logo has a Cube in it?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10" t="1936" r="21272" b="4136"/>
          <a:stretch>
            <a:fillRect/>
          </a:stretch>
        </p:blipFill>
        <p:spPr bwMode="auto">
          <a:xfrm>
            <a:off x="3215510" y="5812719"/>
            <a:ext cx="396477" cy="35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etting Started with PyTorch: How to Install It on Your Machine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027" y="5820364"/>
            <a:ext cx="669967" cy="33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2" name="Table 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919235"/>
              </p:ext>
            </p:extLst>
          </p:nvPr>
        </p:nvGraphicFramePr>
        <p:xfrm>
          <a:off x="4648200" y="212379"/>
          <a:ext cx="3310467" cy="365760"/>
        </p:xfrm>
        <a:graphic>
          <a:graphicData uri="http://schemas.openxmlformats.org/drawingml/2006/table">
            <a:tbl>
              <a:tblPr/>
              <a:tblGrid>
                <a:gridCol w="331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71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8" name="Straight Connector 147"/>
          <p:cNvCxnSpPr/>
          <p:nvPr/>
        </p:nvCxnSpPr>
        <p:spPr>
          <a:xfrm>
            <a:off x="0" y="780822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277049" y="1171980"/>
            <a:ext cx="15063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dirty="0">
                <a:latin typeface="+mn-lt"/>
              </a:rPr>
              <a:t>SCENE INDEX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dirty="0">
                <a:latin typeface="Aptos" panose="020B0004020202020204" pitchFamily="34" charset="0"/>
              </a:rPr>
              <a:t>(Labels → objects,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2D → 3D positions)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623F0F7-0C0B-BC5B-8802-971D00A8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2135" y="660214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1</a:t>
            </a:fld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788936-4479-9B48-84E2-E77D28836200}"/>
              </a:ext>
            </a:extLst>
          </p:cNvPr>
          <p:cNvCxnSpPr>
            <a:cxnSpLocks/>
          </p:cNvCxnSpPr>
          <p:nvPr/>
        </p:nvCxnSpPr>
        <p:spPr>
          <a:xfrm>
            <a:off x="3279397" y="1463135"/>
            <a:ext cx="2700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855908-68B9-4304-F2EF-FDBCCD24E468}"/>
              </a:ext>
            </a:extLst>
          </p:cNvPr>
          <p:cNvCxnSpPr>
            <a:cxnSpLocks/>
          </p:cNvCxnSpPr>
          <p:nvPr/>
        </p:nvCxnSpPr>
        <p:spPr>
          <a:xfrm>
            <a:off x="4906696" y="1409645"/>
            <a:ext cx="3073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270597-A61B-29DB-3ECA-032DA3F8429C}"/>
              </a:ext>
            </a:extLst>
          </p:cNvPr>
          <p:cNvCxnSpPr>
            <a:cxnSpLocks/>
          </p:cNvCxnSpPr>
          <p:nvPr/>
        </p:nvCxnSpPr>
        <p:spPr>
          <a:xfrm flipH="1">
            <a:off x="3398291" y="2499363"/>
            <a:ext cx="3080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0743530C-1D7C-23BD-9287-0B051E6E5677}"/>
              </a:ext>
            </a:extLst>
          </p:cNvPr>
          <p:cNvSpPr/>
          <p:nvPr/>
        </p:nvSpPr>
        <p:spPr>
          <a:xfrm>
            <a:off x="8768312" y="846526"/>
            <a:ext cx="1636202" cy="240041"/>
          </a:xfrm>
          <a:prstGeom prst="rect">
            <a:avLst/>
          </a:prstGeom>
          <a:solidFill>
            <a:srgbClr val="F3F7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9F660610-B921-A796-1052-13C10809D835}"/>
              </a:ext>
            </a:extLst>
          </p:cNvPr>
          <p:cNvSpPr/>
          <p:nvPr/>
        </p:nvSpPr>
        <p:spPr>
          <a:xfrm>
            <a:off x="2741111" y="4621555"/>
            <a:ext cx="1939412" cy="573852"/>
          </a:xfrm>
          <a:prstGeom prst="roundRect">
            <a:avLst>
              <a:gd name="adj" fmla="val 10697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dirty="0"/>
              <a:t>TRAINING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dirty="0"/>
              <a:t>(Behaviour cloning, PyTorch)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94784F9-CB7D-3772-9739-020FA98D776D}"/>
              </a:ext>
            </a:extLst>
          </p:cNvPr>
          <p:cNvCxnSpPr>
            <a:cxnSpLocks/>
          </p:cNvCxnSpPr>
          <p:nvPr/>
        </p:nvCxnSpPr>
        <p:spPr>
          <a:xfrm>
            <a:off x="7103533" y="781571"/>
            <a:ext cx="0" cy="58713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BCA8E3-C5B7-2AF3-F1F3-04F894C93A5E}"/>
              </a:ext>
            </a:extLst>
          </p:cNvPr>
          <p:cNvSpPr/>
          <p:nvPr/>
        </p:nvSpPr>
        <p:spPr>
          <a:xfrm>
            <a:off x="3730332" y="2175836"/>
            <a:ext cx="1379102" cy="772958"/>
          </a:xfrm>
          <a:prstGeom prst="roundRect">
            <a:avLst>
              <a:gd name="adj" fmla="val 10697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E24"/>
                </a:solidFill>
                <a:latin typeface="Aptos Display"/>
              </a:defRPr>
            </a:pPr>
            <a:endParaRPr lang="en-US" sz="1200" dirty="0"/>
          </a:p>
          <a:p>
            <a:pPr algn="ctr">
              <a:defRPr sz="1100" b="1">
                <a:solidFill>
                  <a:srgbClr val="191E24"/>
                </a:solidFill>
                <a:latin typeface="Aptos Display"/>
              </a:defRPr>
            </a:pPr>
            <a:r>
              <a:rPr lang="en-US" sz="1200" dirty="0"/>
              <a:t>GROUNDING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sz="1000" dirty="0"/>
              <a:t>(Source + destination)</a:t>
            </a:r>
          </a:p>
          <a:p>
            <a:pPr algn="ctr"/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92F1F3-C85A-7FF4-D6F7-55CAF37930EE}"/>
              </a:ext>
            </a:extLst>
          </p:cNvPr>
          <p:cNvSpPr/>
          <p:nvPr/>
        </p:nvSpPr>
        <p:spPr>
          <a:xfrm>
            <a:off x="5379799" y="2187926"/>
            <a:ext cx="1470610" cy="794121"/>
          </a:xfrm>
          <a:prstGeom prst="roundRect">
            <a:avLst>
              <a:gd name="adj" fmla="val 10697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E24"/>
                </a:solidFill>
                <a:latin typeface="Aptos Display"/>
              </a:defRPr>
            </a:pPr>
            <a:r>
              <a:rPr lang="en-US" sz="1200" dirty="0"/>
              <a:t>LEARNED POLICY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sz="1000" dirty="0"/>
              <a:t>(Transformer, ~1 ms)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450A4F-365B-7414-B623-A2E14722954B}"/>
              </a:ext>
            </a:extLst>
          </p:cNvPr>
          <p:cNvSpPr/>
          <p:nvPr/>
        </p:nvSpPr>
        <p:spPr>
          <a:xfrm>
            <a:off x="2513627" y="3330254"/>
            <a:ext cx="1848874" cy="773210"/>
          </a:xfrm>
          <a:prstGeom prst="roundRect">
            <a:avLst>
              <a:gd name="adj" fmla="val 10697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endParaRPr lang="en-US" dirty="0"/>
          </a:p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dirty="0"/>
              <a:t>ARM MOTION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dirty="0"/>
              <a:t>(IK joint deltas · gripper</a:t>
            </a:r>
            <a:br>
              <a:rPr lang="en-US" dirty="0"/>
            </a:br>
            <a:r>
              <a:rPr lang="en-US" dirty="0"/>
              <a:t>20 Hz control loop)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D94AB74-CE80-FA86-7598-C36EE832B09E}"/>
              </a:ext>
            </a:extLst>
          </p:cNvPr>
          <p:cNvSpPr/>
          <p:nvPr/>
        </p:nvSpPr>
        <p:spPr>
          <a:xfrm>
            <a:off x="4680524" y="3330255"/>
            <a:ext cx="2168962" cy="757376"/>
          </a:xfrm>
          <a:prstGeom prst="roundRect">
            <a:avLst>
              <a:gd name="adj" fmla="val 10697"/>
            </a:avLst>
          </a:prstGeom>
          <a:solidFill>
            <a:srgbClr val="F5F8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endParaRPr lang="en-US" dirty="0"/>
          </a:p>
          <a:p>
            <a:pPr algn="ctr">
              <a:defRPr sz="1200" b="1">
                <a:solidFill>
                  <a:srgbClr val="191E24"/>
                </a:solidFill>
                <a:latin typeface="Aptos Display"/>
              </a:defRPr>
            </a:pPr>
            <a:r>
              <a:rPr lang="en-US" dirty="0"/>
              <a:t>ROBOT CONTROLLER</a:t>
            </a:r>
          </a:p>
          <a:p>
            <a:pPr algn="ctr">
              <a:defRPr sz="900">
                <a:solidFill>
                  <a:srgbClr val="191E24"/>
                </a:solidFill>
                <a:latin typeface="Aptos"/>
              </a:defRPr>
            </a:pPr>
            <a:r>
              <a:rPr lang="en-US" dirty="0"/>
              <a:t>(E-STOP · person-in-view hold,</a:t>
            </a:r>
            <a:br>
              <a:rPr lang="en-US" dirty="0"/>
            </a:br>
            <a:r>
              <a:rPr lang="en-US" dirty="0"/>
              <a:t>watchdog · rate limits)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B6C6FD-A70C-1F6D-748C-3965E8AA929B}"/>
              </a:ext>
            </a:extLst>
          </p:cNvPr>
          <p:cNvCxnSpPr>
            <a:cxnSpLocks/>
          </p:cNvCxnSpPr>
          <p:nvPr/>
        </p:nvCxnSpPr>
        <p:spPr>
          <a:xfrm flipH="1">
            <a:off x="1619666" y="2501332"/>
            <a:ext cx="3080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69F67B-1620-B211-1B1F-D53A426FF904}"/>
              </a:ext>
            </a:extLst>
          </p:cNvPr>
          <p:cNvCxnSpPr>
            <a:cxnSpLocks/>
          </p:cNvCxnSpPr>
          <p:nvPr/>
        </p:nvCxnSpPr>
        <p:spPr>
          <a:xfrm flipH="1">
            <a:off x="5109433" y="2499363"/>
            <a:ext cx="270366" cy="1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BEA86E-3198-A120-3F07-3959032E85D3}"/>
              </a:ext>
            </a:extLst>
          </p:cNvPr>
          <p:cNvCxnSpPr>
            <a:cxnSpLocks/>
          </p:cNvCxnSpPr>
          <p:nvPr/>
        </p:nvCxnSpPr>
        <p:spPr>
          <a:xfrm flipH="1">
            <a:off x="4362501" y="3716859"/>
            <a:ext cx="3080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05A304D-28B2-9DB5-63F0-950B5873E1AE}"/>
              </a:ext>
            </a:extLst>
          </p:cNvPr>
          <p:cNvCxnSpPr>
            <a:cxnSpLocks/>
          </p:cNvCxnSpPr>
          <p:nvPr/>
        </p:nvCxnSpPr>
        <p:spPr>
          <a:xfrm flipH="1">
            <a:off x="2205612" y="3716859"/>
            <a:ext cx="3080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53FF202-A4BE-162A-4C53-53F6EBA2D402}"/>
              </a:ext>
            </a:extLst>
          </p:cNvPr>
          <p:cNvCxnSpPr>
            <a:cxnSpLocks/>
          </p:cNvCxnSpPr>
          <p:nvPr/>
        </p:nvCxnSpPr>
        <p:spPr>
          <a:xfrm flipH="1">
            <a:off x="5997699" y="4137836"/>
            <a:ext cx="1905" cy="483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3DD35F-1836-30B1-ECCE-27E64CAEFE44}"/>
              </a:ext>
            </a:extLst>
          </p:cNvPr>
          <p:cNvCxnSpPr>
            <a:cxnSpLocks/>
          </p:cNvCxnSpPr>
          <p:nvPr/>
        </p:nvCxnSpPr>
        <p:spPr>
          <a:xfrm flipH="1">
            <a:off x="4678942" y="4876186"/>
            <a:ext cx="4661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D859BC-E117-EC7C-3CD7-10DB2C6DFBFC}"/>
              </a:ext>
            </a:extLst>
          </p:cNvPr>
          <p:cNvCxnSpPr>
            <a:cxnSpLocks/>
          </p:cNvCxnSpPr>
          <p:nvPr/>
        </p:nvCxnSpPr>
        <p:spPr>
          <a:xfrm flipH="1" flipV="1">
            <a:off x="2026307" y="4881804"/>
            <a:ext cx="719755" cy="15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099B66E3-1D03-6E2F-EAB7-FA0086D4A28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431925" y="6242721"/>
            <a:ext cx="884355" cy="2423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8A1F773-BAED-B28F-47E1-828BD9A4ED4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2484936" y="6156457"/>
            <a:ext cx="1104086" cy="35617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658FAD3-7115-EE75-12F3-820BBABE867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3801564" y="6249902"/>
            <a:ext cx="487894" cy="25019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F1F90FF-4246-7574-B29A-80115D14F7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1427" y="6168897"/>
            <a:ext cx="511375" cy="36995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1E98F36-1E61-9DC7-8BED-5802A8D3FCA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4951712" y="6166299"/>
            <a:ext cx="749279" cy="375147"/>
          </a:xfrm>
          <a:prstGeom prst="rect">
            <a:avLst/>
          </a:prstGeom>
        </p:spPr>
      </p:pic>
      <p:pic>
        <p:nvPicPr>
          <p:cNvPr id="59" name="Picture 58" descr="Sign in">
            <a:extLst>
              <a:ext uri="{FF2B5EF4-FFF2-40B4-BE49-F238E27FC236}">
                <a16:creationId xmlns:a16="http://schemas.microsoft.com/office/drawing/2014/main" id="{4C9720C5-7113-F981-CBB4-60BF2069FCF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09619" y="1320956"/>
            <a:ext cx="4787497" cy="1553330"/>
          </a:xfrm>
          <a:prstGeom prst="rect">
            <a:avLst/>
          </a:prstGeom>
        </p:spPr>
      </p:pic>
      <p:pic>
        <p:nvPicPr>
          <p:cNvPr id="60" name="Picture 59" descr="Blinded first read">
            <a:extLst>
              <a:ext uri="{FF2B5EF4-FFF2-40B4-BE49-F238E27FC236}">
                <a16:creationId xmlns:a16="http://schemas.microsoft.com/office/drawing/2014/main" id="{7E7F8932-D24D-7BC1-A8DE-508A67F86D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88194" y="2960298"/>
            <a:ext cx="4908918" cy="1829870"/>
          </a:xfrm>
          <a:prstGeom prst="rect">
            <a:avLst/>
          </a:prstGeom>
        </p:spPr>
      </p:pic>
      <p:pic>
        <p:nvPicPr>
          <p:cNvPr id="61" name="Picture 60" descr="Dashboard">
            <a:extLst>
              <a:ext uri="{FF2B5EF4-FFF2-40B4-BE49-F238E27FC236}">
                <a16:creationId xmlns:a16="http://schemas.microsoft.com/office/drawing/2014/main" id="{92A788D0-05E6-D02F-0D54-6E8207A2407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3588" y="5009899"/>
            <a:ext cx="4893521" cy="15517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151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MS PGothic</vt:lpstr>
      <vt:lpstr>Aptos</vt:lpstr>
      <vt:lpstr>Arial</vt:lpstr>
      <vt:lpstr>Calibri</vt:lpstr>
      <vt:lpstr>Times New Roman</vt:lpstr>
      <vt:lpstr>TradeGothic</vt:lpstr>
      <vt:lpstr>Office Theme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 Robot Dashboard: Technical Approach</dc:title>
  <dc:creator>Crowdfunder</dc:creator>
  <cp:lastModifiedBy>R Muneeswaran</cp:lastModifiedBy>
  <cp:revision>231</cp:revision>
  <dcterms:created xsi:type="dcterms:W3CDTF">2013-12-12T18:46:00Z</dcterms:created>
  <dcterms:modified xsi:type="dcterms:W3CDTF">2026-10-09T16:22:09Z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CA7E572BE07E4FE6A06B0A0A7AD239A2_13</vt:lpwstr>
  </property>
</Properties>
</file>